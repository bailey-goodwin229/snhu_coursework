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56" r:id="rId5"/>
    <p:sldId id="257" r:id="rId6"/>
    <p:sldId id="278" r:id="rId7"/>
    <p:sldId id="258" r:id="rId8"/>
    <p:sldId id="281" r:id="rId9"/>
    <p:sldId id="28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EABD71-DCB2-4E91-9E8A-F95F56BD9A5C}" v="19" dt="2025-06-22T01:54:12.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0655" autoAdjust="0"/>
  </p:normalViewPr>
  <p:slideViewPr>
    <p:cSldViewPr snapToGrid="0">
      <p:cViewPr>
        <p:scale>
          <a:sx n="83" d="100"/>
          <a:sy n="83" d="100"/>
        </p:scale>
        <p:origin x="45" y="282"/>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odwin, Bailey" userId="a085b0cc-c9e9-4658-94d8-33dfef32a57f" providerId="ADAL" clId="{A6EABD71-DCB2-4E91-9E8A-F95F56BD9A5C}"/>
    <pc:docChg chg="custSel modSld">
      <pc:chgData name="Goodwin, Bailey" userId="a085b0cc-c9e9-4658-94d8-33dfef32a57f" providerId="ADAL" clId="{A6EABD71-DCB2-4E91-9E8A-F95F56BD9A5C}" dt="2025-06-22T02:02:00.884" v="4427" actId="113"/>
      <pc:docMkLst>
        <pc:docMk/>
      </pc:docMkLst>
      <pc:sldChg chg="modSp mod">
        <pc:chgData name="Goodwin, Bailey" userId="a085b0cc-c9e9-4658-94d8-33dfef32a57f" providerId="ADAL" clId="{A6EABD71-DCB2-4E91-9E8A-F95F56BD9A5C}" dt="2025-06-21T19:18:06.445" v="66" actId="20577"/>
        <pc:sldMkLst>
          <pc:docMk/>
          <pc:sldMk cId="2586058810" sldId="256"/>
        </pc:sldMkLst>
        <pc:spChg chg="mod">
          <ac:chgData name="Goodwin, Bailey" userId="a085b0cc-c9e9-4658-94d8-33dfef32a57f" providerId="ADAL" clId="{A6EABD71-DCB2-4E91-9E8A-F95F56BD9A5C}" dt="2025-06-21T19:18:06.445" v="66" actId="20577"/>
          <ac:spMkLst>
            <pc:docMk/>
            <pc:sldMk cId="2586058810" sldId="256"/>
            <ac:spMk id="2" creationId="{CFE75451-6A4B-484B-9ED1-353CCE25B0F4}"/>
          </ac:spMkLst>
        </pc:spChg>
      </pc:sldChg>
      <pc:sldChg chg="modSp mod">
        <pc:chgData name="Goodwin, Bailey" userId="a085b0cc-c9e9-4658-94d8-33dfef32a57f" providerId="ADAL" clId="{A6EABD71-DCB2-4E91-9E8A-F95F56BD9A5C}" dt="2025-06-22T02:01:34.795" v="4421" actId="113"/>
        <pc:sldMkLst>
          <pc:docMk/>
          <pc:sldMk cId="1713219598" sldId="257"/>
        </pc:sldMkLst>
        <pc:spChg chg="mod">
          <ac:chgData name="Goodwin, Bailey" userId="a085b0cc-c9e9-4658-94d8-33dfef32a57f" providerId="ADAL" clId="{A6EABD71-DCB2-4E91-9E8A-F95F56BD9A5C}" dt="2025-06-22T00:49:33.022" v="87" actId="1076"/>
          <ac:spMkLst>
            <pc:docMk/>
            <pc:sldMk cId="1713219598" sldId="257"/>
            <ac:spMk id="2" creationId="{1BEF5859-10C9-4588-9727-B9362E26C29D}"/>
          </ac:spMkLst>
        </pc:spChg>
        <pc:spChg chg="mod">
          <ac:chgData name="Goodwin, Bailey" userId="a085b0cc-c9e9-4658-94d8-33dfef32a57f" providerId="ADAL" clId="{A6EABD71-DCB2-4E91-9E8A-F95F56BD9A5C}" dt="2025-06-22T02:01:34.795" v="4421" actId="113"/>
          <ac:spMkLst>
            <pc:docMk/>
            <pc:sldMk cId="1713219598" sldId="257"/>
            <ac:spMk id="3" creationId="{5671D7E5-EF66-4BCD-8DAA-E9061157F0BE}"/>
          </ac:spMkLst>
        </pc:spChg>
      </pc:sldChg>
      <pc:sldChg chg="modSp mod">
        <pc:chgData name="Goodwin, Bailey" userId="a085b0cc-c9e9-4658-94d8-33dfef32a57f" providerId="ADAL" clId="{A6EABD71-DCB2-4E91-9E8A-F95F56BD9A5C}" dt="2025-06-22T01:46:49.962" v="3298" actId="255"/>
        <pc:sldMkLst>
          <pc:docMk/>
          <pc:sldMk cId="3571516367" sldId="258"/>
        </pc:sldMkLst>
        <pc:spChg chg="mod">
          <ac:chgData name="Goodwin, Bailey" userId="a085b0cc-c9e9-4658-94d8-33dfef32a57f" providerId="ADAL" clId="{A6EABD71-DCB2-4E91-9E8A-F95F56BD9A5C}" dt="2025-06-22T01:33:00.299" v="2449" actId="1076"/>
          <ac:spMkLst>
            <pc:docMk/>
            <pc:sldMk cId="3571516367" sldId="258"/>
            <ac:spMk id="2" creationId="{0A32731C-311B-46F7-A865-6C3AF6B09A47}"/>
          </ac:spMkLst>
        </pc:spChg>
        <pc:spChg chg="mod">
          <ac:chgData name="Goodwin, Bailey" userId="a085b0cc-c9e9-4658-94d8-33dfef32a57f" providerId="ADAL" clId="{A6EABD71-DCB2-4E91-9E8A-F95F56BD9A5C}" dt="2025-06-22T01:46:49.962" v="3298" actId="255"/>
          <ac:spMkLst>
            <pc:docMk/>
            <pc:sldMk cId="3571516367" sldId="258"/>
            <ac:spMk id="3" creationId="{9D5232F9-FD00-464A-9F17-619C91AEF8F3}"/>
          </ac:spMkLst>
        </pc:spChg>
      </pc:sldChg>
      <pc:sldChg chg="addSp modSp mod">
        <pc:chgData name="Goodwin, Bailey" userId="a085b0cc-c9e9-4658-94d8-33dfef32a57f" providerId="ADAL" clId="{A6EABD71-DCB2-4E91-9E8A-F95F56BD9A5C}" dt="2025-06-22T02:02:00.884" v="4427" actId="113"/>
        <pc:sldMkLst>
          <pc:docMk/>
          <pc:sldMk cId="608796113" sldId="278"/>
        </pc:sldMkLst>
        <pc:spChg chg="mod">
          <ac:chgData name="Goodwin, Bailey" userId="a085b0cc-c9e9-4658-94d8-33dfef32a57f" providerId="ADAL" clId="{A6EABD71-DCB2-4E91-9E8A-F95F56BD9A5C}" dt="2025-06-22T01:15:38.780" v="2046" actId="1076"/>
          <ac:spMkLst>
            <pc:docMk/>
            <pc:sldMk cId="608796113" sldId="278"/>
            <ac:spMk id="2" creationId="{9528DBD1-DB29-D44F-FD5A-3071BB37EF37}"/>
          </ac:spMkLst>
        </pc:spChg>
        <pc:spChg chg="add mod">
          <ac:chgData name="Goodwin, Bailey" userId="a085b0cc-c9e9-4658-94d8-33dfef32a57f" providerId="ADAL" clId="{A6EABD71-DCB2-4E91-9E8A-F95F56BD9A5C}" dt="2025-06-22T02:02:00.884" v="4427" actId="113"/>
          <ac:spMkLst>
            <pc:docMk/>
            <pc:sldMk cId="608796113" sldId="278"/>
            <ac:spMk id="3" creationId="{BF5AC151-CD3E-8D5F-568F-E957E46DC2BC}"/>
          </ac:spMkLst>
        </pc:spChg>
      </pc:sldChg>
      <pc:sldChg chg="addSp modSp mod">
        <pc:chgData name="Goodwin, Bailey" userId="a085b0cc-c9e9-4658-94d8-33dfef32a57f" providerId="ADAL" clId="{A6EABD71-DCB2-4E91-9E8A-F95F56BD9A5C}" dt="2025-06-21T19:17:17.050" v="33" actId="207"/>
        <pc:sldMkLst>
          <pc:docMk/>
          <pc:sldMk cId="334696707" sldId="280"/>
        </pc:sldMkLst>
        <pc:spChg chg="mod">
          <ac:chgData name="Goodwin, Bailey" userId="a085b0cc-c9e9-4658-94d8-33dfef32a57f" providerId="ADAL" clId="{A6EABD71-DCB2-4E91-9E8A-F95F56BD9A5C}" dt="2025-06-21T19:10:29.863" v="25" actId="1076"/>
          <ac:spMkLst>
            <pc:docMk/>
            <pc:sldMk cId="334696707" sldId="280"/>
            <ac:spMk id="2" creationId="{566C97BE-403B-122E-90D1-2788978A0B6F}"/>
          </ac:spMkLst>
        </pc:spChg>
        <pc:spChg chg="add mod">
          <ac:chgData name="Goodwin, Bailey" userId="a085b0cc-c9e9-4658-94d8-33dfef32a57f" providerId="ADAL" clId="{A6EABD71-DCB2-4E91-9E8A-F95F56BD9A5C}" dt="2025-06-21T19:17:17.050" v="33" actId="207"/>
          <ac:spMkLst>
            <pc:docMk/>
            <pc:sldMk cId="334696707" sldId="280"/>
            <ac:spMk id="3" creationId="{6BDBBCD5-B5BB-3247-80E7-5750269B7783}"/>
          </ac:spMkLst>
        </pc:spChg>
      </pc:sldChg>
      <pc:sldChg chg="modSp mod">
        <pc:chgData name="Goodwin, Bailey" userId="a085b0cc-c9e9-4658-94d8-33dfef32a57f" providerId="ADAL" clId="{A6EABD71-DCB2-4E91-9E8A-F95F56BD9A5C}" dt="2025-06-22T01:59:27.233" v="4418" actId="20577"/>
        <pc:sldMkLst>
          <pc:docMk/>
          <pc:sldMk cId="103458723" sldId="281"/>
        </pc:sldMkLst>
        <pc:spChg chg="mod">
          <ac:chgData name="Goodwin, Bailey" userId="a085b0cc-c9e9-4658-94d8-33dfef32a57f" providerId="ADAL" clId="{A6EABD71-DCB2-4E91-9E8A-F95F56BD9A5C}" dt="2025-06-22T01:47:19.749" v="3319" actId="20577"/>
          <ac:spMkLst>
            <pc:docMk/>
            <pc:sldMk cId="103458723" sldId="281"/>
            <ac:spMk id="2" creationId="{A95E2E6A-35EC-1B8E-0FD7-8C67870ACA64}"/>
          </ac:spMkLst>
        </pc:spChg>
        <pc:spChg chg="mod">
          <ac:chgData name="Goodwin, Bailey" userId="a085b0cc-c9e9-4658-94d8-33dfef32a57f" providerId="ADAL" clId="{A6EABD71-DCB2-4E91-9E8A-F95F56BD9A5C}" dt="2025-06-22T01:54:17.695" v="3912" actId="113"/>
          <ac:spMkLst>
            <pc:docMk/>
            <pc:sldMk cId="103458723" sldId="281"/>
            <ac:spMk id="12" creationId="{554B61B9-26F6-B304-92CD-03053DAAF2A8}"/>
          </ac:spMkLst>
        </pc:spChg>
        <pc:spChg chg="mod">
          <ac:chgData name="Goodwin, Bailey" userId="a085b0cc-c9e9-4658-94d8-33dfef32a57f" providerId="ADAL" clId="{A6EABD71-DCB2-4E91-9E8A-F95F56BD9A5C}" dt="2025-06-22T01:49:21.822" v="3423" actId="1076"/>
          <ac:spMkLst>
            <pc:docMk/>
            <pc:sldMk cId="103458723" sldId="281"/>
            <ac:spMk id="14" creationId="{CB9F9E8B-42CD-AC26-AFC9-F1F66695693B}"/>
          </ac:spMkLst>
        </pc:spChg>
        <pc:spChg chg="mod">
          <ac:chgData name="Goodwin, Bailey" userId="a085b0cc-c9e9-4658-94d8-33dfef32a57f" providerId="ADAL" clId="{A6EABD71-DCB2-4E91-9E8A-F95F56BD9A5C}" dt="2025-06-22T01:59:27.233" v="4418" actId="20577"/>
          <ac:spMkLst>
            <pc:docMk/>
            <pc:sldMk cId="103458723" sldId="281"/>
            <ac:spMk id="35" creationId="{EDBE6233-75E9-40D1-968F-58CA9AD0FF50}"/>
          </ac:spMkLst>
        </pc:spChg>
        <pc:spChg chg="mod">
          <ac:chgData name="Goodwin, Bailey" userId="a085b0cc-c9e9-4658-94d8-33dfef32a57f" providerId="ADAL" clId="{A6EABD71-DCB2-4E91-9E8A-F95F56BD9A5C}" dt="2025-06-22T01:52:23.683" v="3892" actId="20577"/>
          <ac:spMkLst>
            <pc:docMk/>
            <pc:sldMk cId="103458723" sldId="281"/>
            <ac:spMk id="50" creationId="{8F6B2AE9-DDE4-FD99-A235-3B39EEE2148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6/21/2025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6/21/2025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0661440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scrumguides.org/scrum-guide.html"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hyperlink" Target="https://www.mendix.com/blog/agile-software-development-lifecycle-stag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anchor="ctr"/>
          <a:lstStyle/>
          <a:p>
            <a:pPr algn="ctr"/>
            <a:r>
              <a:rPr lang="en-US" dirty="0"/>
              <a:t>Agile Presentation</a:t>
            </a:r>
            <a:br>
              <a:rPr lang="en-US" dirty="0"/>
            </a:br>
            <a:r>
              <a:rPr lang="en-US" dirty="0"/>
              <a:t>By:</a:t>
            </a:r>
            <a:br>
              <a:rPr lang="en-US" dirty="0"/>
            </a:br>
            <a:r>
              <a:rPr lang="en-US" dirty="0"/>
              <a:t>Bailey Goodwin</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695145" y="416596"/>
            <a:ext cx="2895600" cy="773849"/>
          </a:xfrm>
        </p:spPr>
        <p:txBody>
          <a:bodyPr/>
          <a:lstStyle/>
          <a:p>
            <a:r>
              <a:rPr lang="en-US" dirty="0"/>
              <a:t>Agile Roles</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362309" y="1190446"/>
            <a:ext cx="11409872" cy="5578414"/>
          </a:xfrm>
        </p:spPr>
        <p:txBody>
          <a:bodyPr>
            <a:normAutofit/>
          </a:bodyPr>
          <a:lstStyle/>
          <a:p>
            <a:r>
              <a:rPr lang="en-US" b="1" u="sng" dirty="0"/>
              <a:t>Product Owner: </a:t>
            </a:r>
            <a:r>
              <a:rPr lang="en-US" dirty="0"/>
              <a:t>“The Product Owner is accountable for maximizing the value of the product resulting from the work of the Scrum Team.” (Schwaber &amp; Sutherland, 2020) The product owner works the </a:t>
            </a:r>
            <a:r>
              <a:rPr lang="en-US" dirty="0" err="1"/>
              <a:t>the</a:t>
            </a:r>
            <a:r>
              <a:rPr lang="en-US" dirty="0"/>
              <a:t> agile team and stakeholder/customers to </a:t>
            </a:r>
            <a:r>
              <a:rPr lang="en-US" dirty="0" err="1"/>
              <a:t>esure</a:t>
            </a:r>
            <a:r>
              <a:rPr lang="en-US" dirty="0"/>
              <a:t> the product is on track. The product owner is </a:t>
            </a:r>
            <a:r>
              <a:rPr lang="en-US" dirty="0" err="1"/>
              <a:t>los</a:t>
            </a:r>
            <a:r>
              <a:rPr lang="en-US" dirty="0"/>
              <a:t> </a:t>
            </a:r>
            <a:r>
              <a:rPr lang="en-US" dirty="0" err="1"/>
              <a:t>responsisble</a:t>
            </a:r>
            <a:r>
              <a:rPr lang="en-US" dirty="0"/>
              <a:t> for adding or changing the items in the product back log and setting the priority of each item.</a:t>
            </a:r>
          </a:p>
          <a:p>
            <a:r>
              <a:rPr lang="en-US" b="1" u="sng" dirty="0"/>
              <a:t>Scrum Master: </a:t>
            </a:r>
            <a:r>
              <a:rPr lang="en-US" dirty="0"/>
              <a:t>“The Scrum Master is accountable for establishing Scrum as defined in the Scrum Guide. They do this by helping everyone understand Scrum theory and practice, both within the Scrum Team and the organization.” (Schwaber &amp; Sutherland, 2020) The Scrum Master is the servant leader, helping the team in anyway they can practice agile principles and stop any interruptions to workflow. They work with the product owner and development team to get need information or changes made that help the team. They also run meetings, most notable the daily stand-up meeting.</a:t>
            </a:r>
          </a:p>
          <a:p>
            <a:r>
              <a:rPr lang="en-US" b="1" u="sng" dirty="0"/>
              <a:t>Developer: </a:t>
            </a:r>
            <a:r>
              <a:rPr lang="en-US" dirty="0"/>
              <a:t>“Developers are the people in the Scrum Team that are committed to creating any aspect of a usable Increment each Sprint.” (</a:t>
            </a:r>
            <a:r>
              <a:rPr lang="en-US" dirty="0" err="1"/>
              <a:t>Schawber</a:t>
            </a:r>
            <a:r>
              <a:rPr lang="en-US" dirty="0"/>
              <a:t> &amp; Sutherland, 2020) They are responsible for completing story items by programming and working with the team. Testers may also be classified under the development part of the team.</a:t>
            </a:r>
            <a:endParaRPr lang="en-US" u="sng" dirty="0"/>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1031000" y="130460"/>
            <a:ext cx="10124248" cy="582657"/>
          </a:xfrm>
        </p:spPr>
        <p:txBody>
          <a:bodyPr/>
          <a:lstStyle/>
          <a:p>
            <a:pPr algn="ctr"/>
            <a:r>
              <a:rPr lang="en-US" dirty="0"/>
              <a:t>Stages of The Agile development cycle</a:t>
            </a:r>
          </a:p>
        </p:txBody>
      </p:sp>
      <p:sp>
        <p:nvSpPr>
          <p:cNvPr id="3" name="TextBox 2">
            <a:extLst>
              <a:ext uri="{FF2B5EF4-FFF2-40B4-BE49-F238E27FC236}">
                <a16:creationId xmlns:a16="http://schemas.microsoft.com/office/drawing/2014/main" id="{BF5AC151-CD3E-8D5F-568F-E957E46DC2BC}"/>
              </a:ext>
            </a:extLst>
          </p:cNvPr>
          <p:cNvSpPr txBox="1"/>
          <p:nvPr/>
        </p:nvSpPr>
        <p:spPr>
          <a:xfrm>
            <a:off x="339305" y="713117"/>
            <a:ext cx="11507637" cy="5909310"/>
          </a:xfrm>
          <a:prstGeom prst="rect">
            <a:avLst/>
          </a:prstGeom>
          <a:noFill/>
        </p:spPr>
        <p:txBody>
          <a:bodyPr wrap="square" rtlCol="0">
            <a:spAutoFit/>
          </a:bodyPr>
          <a:lstStyle/>
          <a:p>
            <a:r>
              <a:rPr lang="en-US" b="1" u="sng" dirty="0"/>
              <a:t>Ideation (Stage 1): </a:t>
            </a:r>
            <a:r>
              <a:rPr lang="en-US" dirty="0"/>
              <a:t>“To go from idea to outcome, an Agile product owner (PO) determines the project scope. They work closely with stakeholders, the business team, developers, and future app users to understand the software requirements.” (Van der Hoek, 2021) This is the idea stage, where the team comes together to determine </a:t>
            </a:r>
            <a:r>
              <a:rPr lang="en-US" dirty="0" err="1"/>
              <a:t>whatthe</a:t>
            </a:r>
            <a:r>
              <a:rPr lang="en-US" dirty="0"/>
              <a:t> software will be along with creating the initial stories.</a:t>
            </a:r>
          </a:p>
          <a:p>
            <a:endParaRPr lang="en-US" dirty="0"/>
          </a:p>
          <a:p>
            <a:r>
              <a:rPr lang="en-US" b="1" u="sng" dirty="0"/>
              <a:t>Development (Stage 2): </a:t>
            </a:r>
            <a:r>
              <a:rPr lang="en-US" dirty="0"/>
              <a:t>“The development phase includes all related production tasks in the software development lifecycle, such as UX/UI design, architecting, and coding.” (Van der Hoek, 2021)  This is the part where the team works to develop the software and complete stories in iterations until the software is ready.</a:t>
            </a:r>
          </a:p>
          <a:p>
            <a:endParaRPr lang="en-US" dirty="0"/>
          </a:p>
          <a:p>
            <a:r>
              <a:rPr lang="en-US" b="1" u="sng" dirty="0"/>
              <a:t>Testing (Stage 3): </a:t>
            </a:r>
            <a:r>
              <a:rPr lang="en-US" dirty="0"/>
              <a:t>“When the team is happy with the first iteration of the software, it’s time for testing and quality assurance. This happens before the software is released to the public.” (Van der Hoek, 2021) Now that the software is completed it needs to go through various tests to make sure it will work well for the audience it’s being released to.</a:t>
            </a:r>
          </a:p>
          <a:p>
            <a:endParaRPr lang="en-US" dirty="0"/>
          </a:p>
          <a:p>
            <a:r>
              <a:rPr lang="en-US" b="1" u="sng" dirty="0"/>
              <a:t>Deployment (Stage 4): </a:t>
            </a:r>
            <a:r>
              <a:rPr lang="en-US" dirty="0"/>
              <a:t>“After extensive testing, security assessments, and documentation updates, the Agile team deploys the software to the cloud or an on-premise server.” (Van der Hoek, 2021) This is when the software is deployed for the audience, meaning that it is done by the team's standards.</a:t>
            </a:r>
          </a:p>
          <a:p>
            <a:endParaRPr lang="en-US" dirty="0"/>
          </a:p>
          <a:p>
            <a:r>
              <a:rPr lang="en-US" b="1" u="sng" dirty="0"/>
              <a:t>Operations (Stage 5): </a:t>
            </a:r>
            <a:r>
              <a:rPr lang="en-US" dirty="0"/>
              <a:t>“Ongoing maintenance and operations are necessary to keep the software relevant and error-free.” (Van der Hoek, 2021) Now the team continues maintenance and adds new features to it as necessary until the software runs its course.</a:t>
            </a:r>
          </a:p>
        </p:txBody>
      </p:sp>
    </p:spTree>
    <p:extLst>
      <p:ext uri="{BB962C8B-B14F-4D97-AF65-F5344CB8AC3E}">
        <p14:creationId xmlns:p14="http://schemas.microsoft.com/office/powerpoint/2010/main" val="60879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2173457" y="245356"/>
            <a:ext cx="7288282" cy="490765"/>
          </a:xfrm>
        </p:spPr>
        <p:txBody>
          <a:bodyPr/>
          <a:lstStyle/>
          <a:p>
            <a:pPr algn="ctr"/>
            <a:r>
              <a:rPr lang="en-US" dirty="0"/>
              <a:t>The waterfall approach</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241210" y="859516"/>
            <a:ext cx="11691997" cy="5610295"/>
          </a:xfrm>
        </p:spPr>
        <p:txBody>
          <a:bodyPr>
            <a:normAutofit/>
          </a:bodyPr>
          <a:lstStyle/>
          <a:p>
            <a:r>
              <a:rPr lang="en-US" sz="1900" dirty="0"/>
              <a:t>Next, we’ll look at the waterfall approach to programming so we can get another idea of how software development works. “The waterfall model is a Software Development Model used in the context of large, complex projects, typically in the field of information technology. It is characterized by a structured, sequential approach to Project Management and Software Development.” </a:t>
            </a:r>
            <a:r>
              <a:rPr lang="en-US" sz="1900" b="0" dirty="0"/>
              <a:t> </a:t>
            </a:r>
            <a:r>
              <a:rPr lang="en-US" sz="1900" dirty="0"/>
              <a:t>(</a:t>
            </a:r>
            <a:r>
              <a:rPr lang="en-US" sz="1900" dirty="0" err="1"/>
              <a:t>GeeksforGeeks</a:t>
            </a:r>
            <a:r>
              <a:rPr lang="en-US" sz="1900" dirty="0"/>
              <a:t>, 2025)</a:t>
            </a:r>
            <a:r>
              <a:rPr lang="en-US" sz="1900" b="0" dirty="0"/>
              <a:t> </a:t>
            </a:r>
            <a:r>
              <a:rPr lang="en-US" sz="1900" dirty="0"/>
              <a:t>Let’s look  at the various stages of waterfall to get a general idea of how it works.</a:t>
            </a:r>
          </a:p>
          <a:p>
            <a:r>
              <a:rPr lang="en-US" sz="1900" u="sng" dirty="0"/>
              <a:t>Stages of Waterfall:</a:t>
            </a:r>
          </a:p>
          <a:p>
            <a:pPr marL="285750" indent="-285750">
              <a:buFont typeface="Arial" panose="020B0604020202020204" pitchFamily="34" charset="0"/>
              <a:buChar char="•"/>
            </a:pPr>
            <a:r>
              <a:rPr lang="en-US" sz="1900" dirty="0"/>
              <a:t>Requirements – finding out what the specifications for the project are</a:t>
            </a:r>
          </a:p>
          <a:p>
            <a:pPr marL="285750" indent="-285750">
              <a:buFont typeface="Arial" panose="020B0604020202020204" pitchFamily="34" charset="0"/>
              <a:buChar char="•"/>
            </a:pPr>
            <a:r>
              <a:rPr lang="en-US" sz="1900" dirty="0"/>
              <a:t>Design – sets up the design for the entire project</a:t>
            </a:r>
          </a:p>
          <a:p>
            <a:pPr marL="285750" indent="-285750">
              <a:buFont typeface="Arial" panose="020B0604020202020204" pitchFamily="34" charset="0"/>
              <a:buChar char="•"/>
            </a:pPr>
            <a:r>
              <a:rPr lang="en-US" sz="1900" dirty="0"/>
              <a:t>Development – team works on developing the entire project</a:t>
            </a:r>
          </a:p>
          <a:p>
            <a:pPr marL="285750" indent="-285750">
              <a:buFont typeface="Arial" panose="020B0604020202020204" pitchFamily="34" charset="0"/>
              <a:buChar char="•"/>
            </a:pPr>
            <a:r>
              <a:rPr lang="en-US" sz="1900" dirty="0"/>
              <a:t>Testing – a lot of test are run to make sure the software meets customer/workable standards</a:t>
            </a:r>
          </a:p>
          <a:p>
            <a:pPr marL="285750" indent="-285750">
              <a:buFont typeface="Arial" panose="020B0604020202020204" pitchFamily="34" charset="0"/>
              <a:buChar char="•"/>
            </a:pPr>
            <a:r>
              <a:rPr lang="en-US" sz="1900" dirty="0"/>
              <a:t>Deployment – the software is deployed to the customer/public</a:t>
            </a:r>
          </a:p>
          <a:p>
            <a:pPr marL="285750" indent="-285750">
              <a:buFont typeface="Arial" panose="020B0604020202020204" pitchFamily="34" charset="0"/>
              <a:buChar char="•"/>
            </a:pPr>
            <a:r>
              <a:rPr lang="en-US" sz="1900" dirty="0"/>
              <a:t>Maintenance – the team continues maintain the software for the rest of its life</a:t>
            </a:r>
          </a:p>
          <a:p>
            <a:r>
              <a:rPr lang="en-US" sz="1900" dirty="0"/>
              <a:t>These are the general stages of the waterfall approach and is a more rigid approach compared to agile but also allows for strict planning requirements which helps when developing big, long software projects.</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568961"/>
            <a:ext cx="8420100" cy="546722"/>
          </a:xfrm>
        </p:spPr>
        <p:txBody>
          <a:bodyPr/>
          <a:lstStyle/>
          <a:p>
            <a:r>
              <a:rPr lang="en-US" dirty="0"/>
              <a:t>Agile vs. Waterfall</a:t>
            </a:r>
          </a:p>
        </p:txBody>
      </p:sp>
      <p:sp>
        <p:nvSpPr>
          <p:cNvPr id="12" name="Text Placeholder 11">
            <a:extLst>
              <a:ext uri="{FF2B5EF4-FFF2-40B4-BE49-F238E27FC236}">
                <a16:creationId xmlns:a16="http://schemas.microsoft.com/office/drawing/2014/main" id="{554B61B9-26F6-B304-92CD-03053DAAF2A8}"/>
              </a:ext>
            </a:extLst>
          </p:cNvPr>
          <p:cNvSpPr>
            <a:spLocks noGrp="1"/>
          </p:cNvSpPr>
          <p:nvPr>
            <p:ph type="body" idx="1"/>
          </p:nvPr>
        </p:nvSpPr>
        <p:spPr>
          <a:xfrm>
            <a:off x="3038214" y="1417029"/>
            <a:ext cx="3924300" cy="464499"/>
          </a:xfrm>
        </p:spPr>
        <p:txBody>
          <a:bodyPr/>
          <a:lstStyle/>
          <a:p>
            <a:r>
              <a:rPr lang="en-US" dirty="0"/>
              <a:t>Agile (Wrike, 2023)</a:t>
            </a:r>
          </a:p>
        </p:txBody>
      </p:sp>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2933700" y="1881528"/>
            <a:ext cx="3943627" cy="4604332"/>
          </a:xfrm>
        </p:spPr>
        <p:txBody>
          <a:bodyPr>
            <a:normAutofit lnSpcReduction="10000"/>
          </a:bodyPr>
          <a:lstStyle/>
          <a:p>
            <a:pPr lvl="1"/>
            <a:r>
              <a:rPr lang="en-US" dirty="0"/>
              <a:t>Adaptable</a:t>
            </a:r>
          </a:p>
          <a:p>
            <a:pPr lvl="1"/>
            <a:r>
              <a:rPr lang="en-US" dirty="0"/>
              <a:t>Communication across team</a:t>
            </a:r>
          </a:p>
          <a:p>
            <a:pPr lvl="1"/>
            <a:r>
              <a:rPr lang="en-US" dirty="0"/>
              <a:t>Predictability</a:t>
            </a:r>
          </a:p>
          <a:p>
            <a:pPr lvl="1"/>
            <a:r>
              <a:rPr lang="en-US" dirty="0"/>
              <a:t>Minimal planning</a:t>
            </a:r>
          </a:p>
          <a:p>
            <a:pPr lvl="1"/>
            <a:r>
              <a:rPr lang="en-US" dirty="0"/>
              <a:t>Customer centric</a:t>
            </a:r>
          </a:p>
          <a:p>
            <a:pPr marL="0" lvl="1" indent="0">
              <a:buNone/>
            </a:pPr>
            <a:r>
              <a:rPr lang="en-US" dirty="0"/>
              <a:t>Agile is good for small to medium software development. It works in short iterations to get as much done as best as possible. It is very changeable as the process is constantly being used to gain information and present workable software between each iteration. It has little planning which can make it difficult for big software projects.</a:t>
            </a:r>
          </a:p>
          <a:p>
            <a:endParaRPr lang="en-US" dirty="0"/>
          </a:p>
        </p:txBody>
      </p:sp>
      <p:sp>
        <p:nvSpPr>
          <p:cNvPr id="14" name="Text Placeholder 13">
            <a:extLst>
              <a:ext uri="{FF2B5EF4-FFF2-40B4-BE49-F238E27FC236}">
                <a16:creationId xmlns:a16="http://schemas.microsoft.com/office/drawing/2014/main" id="{CB9F9E8B-42CD-AC26-AFC9-F1F66695693B}"/>
              </a:ext>
            </a:extLst>
          </p:cNvPr>
          <p:cNvSpPr>
            <a:spLocks noGrp="1"/>
          </p:cNvSpPr>
          <p:nvPr>
            <p:ph type="body" sz="quarter" idx="3"/>
          </p:nvPr>
        </p:nvSpPr>
        <p:spPr>
          <a:xfrm>
            <a:off x="7191637" y="1417029"/>
            <a:ext cx="3943627" cy="464499"/>
          </a:xfrm>
        </p:spPr>
        <p:txBody>
          <a:bodyPr/>
          <a:lstStyle/>
          <a:p>
            <a:r>
              <a:rPr lang="en-US" dirty="0"/>
              <a:t>Waterfall </a:t>
            </a:r>
            <a:r>
              <a:rPr lang="en-US" b="0" dirty="0"/>
              <a:t> </a:t>
            </a:r>
            <a:r>
              <a:rPr lang="en-US" dirty="0"/>
              <a:t>(GeeksforGeeks, 2018)</a:t>
            </a:r>
          </a:p>
        </p:txBody>
      </p:sp>
      <p:sp>
        <p:nvSpPr>
          <p:cNvPr id="50" name="Content Placeholder 49">
            <a:extLst>
              <a:ext uri="{FF2B5EF4-FFF2-40B4-BE49-F238E27FC236}">
                <a16:creationId xmlns:a16="http://schemas.microsoft.com/office/drawing/2014/main" id="{8F6B2AE9-DDE4-FD99-A235-3B39EEE21481}"/>
              </a:ext>
            </a:extLst>
          </p:cNvPr>
          <p:cNvSpPr>
            <a:spLocks noGrp="1"/>
          </p:cNvSpPr>
          <p:nvPr>
            <p:ph sz="half" idx="14"/>
          </p:nvPr>
        </p:nvSpPr>
        <p:spPr>
          <a:xfrm>
            <a:off x="7292197" y="2001328"/>
            <a:ext cx="4061604" cy="4484531"/>
          </a:xfrm>
        </p:spPr>
        <p:txBody>
          <a:bodyPr>
            <a:normAutofit/>
          </a:bodyPr>
          <a:lstStyle/>
          <a:p>
            <a:pPr lvl="1"/>
            <a:r>
              <a:rPr lang="en-US" dirty="0"/>
              <a:t>Sequential approach</a:t>
            </a:r>
          </a:p>
          <a:p>
            <a:pPr lvl="1"/>
            <a:r>
              <a:rPr lang="en-US" dirty="0"/>
              <a:t>Document driven</a:t>
            </a:r>
          </a:p>
          <a:p>
            <a:pPr lvl="1"/>
            <a:r>
              <a:rPr lang="en-US" dirty="0"/>
              <a:t>Quality control</a:t>
            </a:r>
          </a:p>
          <a:p>
            <a:pPr lvl="1"/>
            <a:r>
              <a:rPr lang="en-US" dirty="0"/>
              <a:t>Rigorous planning</a:t>
            </a:r>
          </a:p>
          <a:p>
            <a:pPr marL="0" lvl="1" indent="0">
              <a:buNone/>
            </a:pPr>
            <a:r>
              <a:rPr lang="en-US" dirty="0"/>
              <a:t>Waterfall is good for large software project that require a lot of time and planning. It is a rigid process that has the team work on each phase and doesn’t move on until each phase is complete entirely, they also don’t go backward. This can make it tough to make changes once the project is well under way.</a:t>
            </a:r>
          </a:p>
          <a:p>
            <a:pPr marL="0" lvl="1" indent="0">
              <a:buNone/>
            </a:pPr>
            <a:endParaRPr lang="en-US" dirty="0"/>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103458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3719566" y="373811"/>
            <a:ext cx="5017411" cy="1075428"/>
          </a:xfrm>
        </p:spPr>
        <p:txBody>
          <a:bodyPr/>
          <a:lstStyle/>
          <a:p>
            <a:r>
              <a:rPr lang="en-US" dirty="0"/>
              <a:t>References:</a:t>
            </a:r>
            <a:br>
              <a:rPr lang="en-US" dirty="0"/>
            </a:br>
            <a:endParaRPr lang="en-US" dirty="0"/>
          </a:p>
        </p:txBody>
      </p:sp>
      <p:sp>
        <p:nvSpPr>
          <p:cNvPr id="3" name="TextBox 2">
            <a:extLst>
              <a:ext uri="{FF2B5EF4-FFF2-40B4-BE49-F238E27FC236}">
                <a16:creationId xmlns:a16="http://schemas.microsoft.com/office/drawing/2014/main" id="{6BDBBCD5-B5BB-3247-80E7-5750269B7783}"/>
              </a:ext>
            </a:extLst>
          </p:cNvPr>
          <p:cNvSpPr txBox="1"/>
          <p:nvPr/>
        </p:nvSpPr>
        <p:spPr>
          <a:xfrm>
            <a:off x="902899" y="1547005"/>
            <a:ext cx="10650746" cy="3416320"/>
          </a:xfrm>
          <a:prstGeom prst="rect">
            <a:avLst/>
          </a:prstGeom>
          <a:noFill/>
        </p:spPr>
        <p:txBody>
          <a:bodyPr wrap="square" rtlCol="0">
            <a:spAutoFit/>
          </a:bodyPr>
          <a:lstStyle/>
          <a:p>
            <a:pPr indent="-457200"/>
            <a:r>
              <a:rPr lang="en-US" dirty="0" err="1">
                <a:solidFill>
                  <a:schemeClr val="bg1"/>
                </a:solidFill>
              </a:rPr>
              <a:t>GeeksforGeeks</a:t>
            </a:r>
            <a:r>
              <a:rPr lang="en-US" dirty="0">
                <a:solidFill>
                  <a:schemeClr val="bg1"/>
                </a:solidFill>
              </a:rPr>
              <a:t>. (2018, March 18). Waterfall Model Software Engineering. </a:t>
            </a:r>
            <a:r>
              <a:rPr lang="en-US" dirty="0" err="1">
                <a:solidFill>
                  <a:schemeClr val="bg1"/>
                </a:solidFill>
              </a:rPr>
              <a:t>GeeksforGeeks</a:t>
            </a:r>
            <a:r>
              <a:rPr lang="en-US" dirty="0">
                <a:solidFill>
                  <a:schemeClr val="bg1"/>
                </a:solidFill>
              </a:rPr>
              <a:t>. https://www.geeksforgeeks.org/software-engineering/waterfall-model/</a:t>
            </a:r>
          </a:p>
          <a:p>
            <a:pPr indent="-457200"/>
            <a:endParaRPr lang="en-US" dirty="0">
              <a:solidFill>
                <a:schemeClr val="bg1"/>
              </a:solidFill>
            </a:endParaRPr>
          </a:p>
          <a:p>
            <a:pPr indent="-457200"/>
            <a:r>
              <a:rPr lang="en-US" dirty="0">
                <a:solidFill>
                  <a:schemeClr val="bg1"/>
                </a:solidFill>
              </a:rPr>
              <a:t>Schwaber, K., &amp; Sutherland, J. (2020, November). The 2020 Scrum Guide. Scrumguides.org. </a:t>
            </a:r>
            <a:r>
              <a:rPr lang="en-US" dirty="0">
                <a:solidFill>
                  <a:schemeClr val="bg1"/>
                </a:solidFill>
                <a:hlinkClick r:id="rId3"/>
              </a:rPr>
              <a:t>https://scrumguides.org/scrum-guide.html</a:t>
            </a:r>
            <a:endParaRPr lang="en-US" dirty="0">
              <a:solidFill>
                <a:schemeClr val="bg1"/>
              </a:solidFill>
            </a:endParaRPr>
          </a:p>
          <a:p>
            <a:endParaRPr lang="en-US" dirty="0">
              <a:solidFill>
                <a:schemeClr val="bg1"/>
              </a:solidFill>
            </a:endParaRPr>
          </a:p>
          <a:p>
            <a:r>
              <a:rPr lang="en-US" dirty="0">
                <a:solidFill>
                  <a:schemeClr val="bg1"/>
                </a:solidFill>
              </a:rPr>
              <a:t>Van der Hoek, J. (2021, October 11). Agile Explained: The 5 Stages of the Agile Development Lifecycle. </a:t>
            </a:r>
            <a:r>
              <a:rPr lang="en-US" dirty="0" err="1">
                <a:solidFill>
                  <a:schemeClr val="bg1"/>
                </a:solidFill>
              </a:rPr>
              <a:t>Mendix</a:t>
            </a:r>
            <a:r>
              <a:rPr lang="en-US" dirty="0">
                <a:solidFill>
                  <a:schemeClr val="bg1"/>
                </a:solidFill>
              </a:rPr>
              <a:t>. </a:t>
            </a:r>
            <a:r>
              <a:rPr lang="en-US" dirty="0">
                <a:solidFill>
                  <a:schemeClr val="bg1"/>
                </a:solidFill>
                <a:hlinkClick r:id="rId4"/>
              </a:rPr>
              <a:t>https://www.mendix.com/blog/agile-software-development-lifecycle-stages/</a:t>
            </a:r>
            <a:endParaRPr lang="en-US" dirty="0">
              <a:solidFill>
                <a:schemeClr val="bg1"/>
              </a:solidFill>
            </a:endParaRPr>
          </a:p>
          <a:p>
            <a:endParaRPr lang="en-US" dirty="0">
              <a:solidFill>
                <a:schemeClr val="bg1"/>
              </a:solidFill>
            </a:endParaRPr>
          </a:p>
          <a:p>
            <a:r>
              <a:rPr lang="en-US" dirty="0">
                <a:solidFill>
                  <a:schemeClr val="bg1"/>
                </a:solidFill>
              </a:rPr>
              <a:t>Wrike. (2023). </a:t>
            </a:r>
            <a:r>
              <a:rPr lang="en-US" i="1" dirty="0">
                <a:solidFill>
                  <a:schemeClr val="bg1"/>
                </a:solidFill>
              </a:rPr>
              <a:t>The Benefits &amp; Advantages of Agile | Wrike Agile Guide</a:t>
            </a:r>
            <a:r>
              <a:rPr lang="en-US" dirty="0">
                <a:solidFill>
                  <a:schemeClr val="bg1"/>
                </a:solidFill>
              </a:rPr>
              <a:t>. Www.wrike.com. https://www.wrike.com/agile-guide/benefits-of-agile/</a:t>
            </a:r>
          </a:p>
          <a:p>
            <a:endParaRPr lang="en-US" dirty="0">
              <a:solidFill>
                <a:schemeClr val="bg1"/>
              </a:solidFill>
            </a:endParaRPr>
          </a:p>
        </p:txBody>
      </p:sp>
    </p:spTree>
    <p:extLst>
      <p:ext uri="{BB962C8B-B14F-4D97-AF65-F5344CB8AC3E}">
        <p14:creationId xmlns:p14="http://schemas.microsoft.com/office/powerpoint/2010/main" val="334696707"/>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0F5660574219648A741A19EF959F5A4" ma:contentTypeVersion="5" ma:contentTypeDescription="Create a new document." ma:contentTypeScope="" ma:versionID="76c4a1ea0608286c8774d57e848beab3">
  <xsd:schema xmlns:xsd="http://www.w3.org/2001/XMLSchema" xmlns:xs="http://www.w3.org/2001/XMLSchema" xmlns:p="http://schemas.microsoft.com/office/2006/metadata/properties" xmlns:ns3="d4877d9e-47a6-4343-a0d6-000d8140629e" targetNamespace="http://schemas.microsoft.com/office/2006/metadata/properties" ma:root="true" ma:fieldsID="5651b61f527bfca8d2f484d5ac06daab" ns3:_="">
    <xsd:import namespace="d4877d9e-47a6-4343-a0d6-000d8140629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877d9e-47a6-4343-a0d6-000d814062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168DCE-134F-4610-A6AA-88CEBE8D71D2}">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purl.org/dc/dcmitype/"/>
    <ds:schemaRef ds:uri="http://www.w3.org/XML/1998/namespace"/>
    <ds:schemaRef ds:uri="http://purl.org/dc/terms/"/>
    <ds:schemaRef ds:uri="d4877d9e-47a6-4343-a0d6-000d8140629e"/>
    <ds:schemaRef ds:uri="http://schemas.microsoft.com/office/2006/metadata/properties"/>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116AA11C-34A0-454F-BE39-B62D3AEA2C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877d9e-47a6-4343-a0d6-000d814062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{F3538162-C402-4754-ABD4-A972C439D3D5}TF7521aafa-c748-4c40-a498-ba511be234dc5b1b6097_win32-5039330bb2f3</Template>
  <TotalTime>423</TotalTime>
  <Words>1079</Words>
  <Application>Microsoft Office PowerPoint</Application>
  <PresentationFormat>Widescreen</PresentationFormat>
  <Paragraphs>56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Tenorite</vt:lpstr>
      <vt:lpstr>Custom</vt:lpstr>
      <vt:lpstr>Agile Presentation By: Bailey Goodwin</vt:lpstr>
      <vt:lpstr>Agile Roles</vt:lpstr>
      <vt:lpstr>Stages of The Agile development cycle</vt:lpstr>
      <vt:lpstr>The waterfall approach</vt:lpstr>
      <vt:lpstr>Agile vs. Waterfall</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Goodwin, Bailey</dc:creator>
  <cp:lastModifiedBy>Goodwin, Bailey</cp:lastModifiedBy>
  <cp:revision>1</cp:revision>
  <dcterms:created xsi:type="dcterms:W3CDTF">2025-06-21T18:58:42Z</dcterms:created>
  <dcterms:modified xsi:type="dcterms:W3CDTF">2025-06-22T02:02:04Z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0x01010020F5660574219648A741A19EF959F5A4</vt:lpwstr>
  </property>
  <property fmtid="{D5CDD505-2E9C-101B-9397-08002B2CF9AE}" pid="3" name="MediaServiceImageTags">
    <vt:lpwstr/>
  </property>
</Properties>
</file>